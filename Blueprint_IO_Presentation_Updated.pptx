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8B5CF6"/>
                </a:solidFill>
                <a:latin typeface="Arial"/>
              </a:defRPr>
            </a:pPr>
            <a:r>
              <a:t>Blueprint.io</a:t>
            </a:r>
          </a:p>
          <a:p>
            <a:pPr>
              <a:spcBef>
                <a:spcPts val="2000"/>
              </a:spcBef>
              <a:defRPr sz="2800" b="1">
                <a:solidFill>
                  <a:srgbClr val="3B82F6"/>
                </a:solidFill>
                <a:latin typeface="Arial"/>
              </a:defRPr>
            </a:pPr>
            <a:r>
              <a:t>From Plain Text to Editable C4 Diagrams in Seconds</a:t>
            </a:r>
          </a:p>
          <a:p>
            <a:pPr>
              <a:spcBef>
                <a:spcPts val="1500"/>
              </a:spcBef>
              <a:defRPr sz="1800">
                <a:solidFill>
                  <a:srgbClr val="9CA3AF"/>
                </a:solidFill>
                <a:latin typeface="Arial"/>
              </a:defRPr>
            </a:pPr>
            <a:r>
              <a:t>AI-Powered Architecture Visualization with Real-Time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8B5CF6"/>
                </a:solidFill>
                <a:latin typeface="Arial"/>
              </a:defRPr>
            </a:pPr>
            <a:r>
              <a:t>What is Blueprint.io?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B82F6"/>
                </a:solidFill>
              </a:defRPr>
            </a:pPr>
            <a:r>
              <a:t>•  AI-Powered Diagram Generation: </a:t>
            </a:r>
            <a:r>
              <a:rPr b="0">
                <a:solidFill>
                  <a:srgbClr val="F3F4F6"/>
                </a:solidFill>
              </a:rPr>
              <a:t>Converts plain English architecture descriptions into professional system diagrams using Google Gemini.</a:t>
            </a:r>
          </a:p>
          <a:p>
            <a:pPr>
              <a:spcBef>
                <a:spcPts val="1400"/>
              </a:spcBef>
              <a:spcAft>
                <a:spcPts val="800"/>
              </a:spcAft>
              <a:defRPr b="1" sz="2000">
                <a:solidFill>
                  <a:srgbClr val="3B82F6"/>
                </a:solidFill>
              </a:defRPr>
            </a:pPr>
            <a:r>
              <a:t>•  Interactive Draw.io Canvas: </a:t>
            </a:r>
            <a:r>
              <a:rPr b="0">
                <a:solidFill>
                  <a:srgbClr val="F3F4F6"/>
                </a:solidFill>
              </a:rPr>
              <a:t>Directly embeds the Diagrams.net (Draw.io) editing frame. The visualizer output remains 100% editable by the user.</a:t>
            </a:r>
          </a:p>
          <a:p>
            <a:pPr>
              <a:spcBef>
                <a:spcPts val="1400"/>
              </a:spcBef>
              <a:spcAft>
                <a:spcPts val="800"/>
              </a:spcAft>
              <a:defRPr b="1" sz="2000">
                <a:solidFill>
                  <a:srgbClr val="3B82F6"/>
                </a:solidFill>
              </a:defRPr>
            </a:pPr>
            <a:r>
              <a:t>•  Multi-Level C4 Modeling: </a:t>
            </a:r>
            <a:r>
              <a:rPr b="0">
                <a:solidFill>
                  <a:srgbClr val="F3F4F6"/>
                </a:solidFill>
              </a:rPr>
              <a:t>Aligns with C4 framework standard structures: Context, Container, Component, and UML Code diagrams.</a:t>
            </a:r>
          </a:p>
          <a:p>
            <a:pPr>
              <a:spcBef>
                <a:spcPts val="1400"/>
              </a:spcBef>
              <a:spcAft>
                <a:spcPts val="800"/>
              </a:spcAft>
              <a:defRPr b="1" sz="2000">
                <a:solidFill>
                  <a:srgbClr val="3B82F6"/>
                </a:solidFill>
              </a:defRPr>
            </a:pPr>
            <a:r>
              <a:t>•  Modern UI/UX Experience: </a:t>
            </a:r>
            <a:r>
              <a:rPr b="0">
                <a:solidFill>
                  <a:srgbClr val="F3F4F6"/>
                </a:solidFill>
              </a:rPr>
              <a:t>Wrapped in a premium, glassmorphism dark-themed user interface designed for modern developer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8B5CF6"/>
                </a:solidFill>
                <a:latin typeface="Arial"/>
              </a:defRPr>
            </a:pPr>
            <a:r>
              <a:t>The Problem &amp;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8B5CF6"/>
                </a:solidFill>
              </a:defRPr>
            </a:pPr>
            <a:r>
              <a:t>The Problem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F3F4F6"/>
                </a:solidFill>
              </a:defRPr>
            </a:pPr>
            <a:r>
              <a:t>❌  Manual drawing in diagram tools takes hours of aligning boxes and lines.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F3F4F6"/>
                </a:solidFill>
              </a:defRPr>
            </a:pPr>
            <a:r>
              <a:t>❌  Static architecture charts generated by standard image models cannot be edited afterward.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F3F4F6"/>
                </a:solidFill>
              </a:defRPr>
            </a:pPr>
            <a:r>
              <a:t>❌  System documentation becomes outdated quickly as development moves forward.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3B82F6"/>
                </a:solidFill>
              </a:defRPr>
            </a:pPr>
            <a:r>
              <a:t>The Solution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F3F4F6"/>
                </a:solidFill>
              </a:defRPr>
            </a:pPr>
            <a:r>
              <a:t>✅  Natural language processing translates system descriptions into structural layouts instantly.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F3F4F6"/>
                </a:solidFill>
              </a:defRPr>
            </a:pPr>
            <a:r>
              <a:t>✅  Integration with Draw.io allows developers to customize, drag, and modify shapes freely.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F3F4F6"/>
                </a:solidFill>
              </a:defRPr>
            </a:pPr>
            <a:r>
              <a:t>✅  Fast iteration enables developers to update diagrams alongside code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8B5CF6"/>
                </a:solidFill>
                <a:latin typeface="Arial"/>
              </a:defRPr>
            </a:pPr>
            <a:r>
              <a:t>Application Core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800">
                <a:solidFill>
                  <a:srgbClr val="8B5CF6"/>
                </a:solidFill>
              </a:defRPr>
            </a:pPr>
            <a:r>
              <a:t>1. Input Description  ─  </a:t>
            </a:r>
            <a:r>
              <a:rPr b="0">
                <a:solidFill>
                  <a:srgbClr val="F3F4F6"/>
                </a:solidFill>
              </a:rPr>
              <a:t>Describe your project architecture in plain text (or scan a local repository).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b="1" sz="1800">
                <a:solidFill>
                  <a:srgbClr val="8B5CF6"/>
                </a:solidFill>
              </a:defRPr>
            </a:pPr>
            <a:r>
              <a:t>2. Choose Diagram Type  ─  </a:t>
            </a:r>
            <a:r>
              <a:rPr b="0">
                <a:solidFill>
                  <a:srgbClr val="F3F4F6"/>
                </a:solidFill>
              </a:rPr>
              <a:t>Select the desired structural detail level (C4 standard context/container or Kubernetes layouts).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b="1" sz="1800">
                <a:solidFill>
                  <a:srgbClr val="8B5CF6"/>
                </a:solidFill>
              </a:defRPr>
            </a:pPr>
            <a:r>
              <a:t>3. AI Layout Generation  ─  </a:t>
            </a:r>
            <a:r>
              <a:rPr b="0">
                <a:solidFill>
                  <a:srgbClr val="F3F4F6"/>
                </a:solidFill>
              </a:rPr>
              <a:t>Google Gemini analyzes the architecture and creates an optimized mxGraph XML layout.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b="1" sz="1800">
                <a:solidFill>
                  <a:srgbClr val="8B5CF6"/>
                </a:solidFill>
              </a:defRPr>
            </a:pPr>
            <a:r>
              <a:t>4. Interactive Editing  ─  </a:t>
            </a:r>
            <a:r>
              <a:rPr b="0">
                <a:solidFill>
                  <a:srgbClr val="F3F4F6"/>
                </a:solidFill>
              </a:rPr>
              <a:t>The Draw.io iframe parses the XML and presents a fully interactive editor for adjustments.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b="1" sz="1800">
                <a:solidFill>
                  <a:srgbClr val="8B5CF6"/>
                </a:solidFill>
              </a:defRPr>
            </a:pPr>
            <a:r>
              <a:t>5. Sync &amp; Export  ─  </a:t>
            </a:r>
            <a:r>
              <a:rPr b="0">
                <a:solidFill>
                  <a:srgbClr val="F3F4F6"/>
                </a:solidFill>
              </a:rPr>
              <a:t>Export the diagram to PNG, copy the raw XML, or commit it directly to a GitHub repository.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8B5CF6"/>
                </a:solidFill>
                <a:latin typeface="Arial"/>
              </a:defRPr>
            </a:pPr>
            <a:r>
              <a:t>New Advanced Features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3B82F6"/>
                </a:solidFill>
              </a:defRPr>
            </a:pPr>
            <a:r>
              <a:t>✨  Real-time Rooms Collaboration: </a:t>
            </a:r>
            <a:r>
              <a:rPr b="0">
                <a:solidFill>
                  <a:srgbClr val="F3F4F6"/>
                </a:solidFill>
              </a:rPr>
              <a:t>Uses a Node.js Express + Socket.io backend to synchronize diagram modifications, chat logs, prompts, and active collaborator lists across multiple devices simultaneously.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b="1" sz="1800">
                <a:solidFill>
                  <a:srgbClr val="3B82F6"/>
                </a:solidFill>
              </a:defRPr>
            </a:pPr>
            <a:r>
              <a:t>✨  Kubernetes Cluster Visualization: </a:t>
            </a:r>
            <a:r>
              <a:rPr b="0">
                <a:solidFill>
                  <a:srgbClr val="F3F4F6"/>
                </a:solidFill>
              </a:rPr>
              <a:t>Adds a specialized diagram generator level. Instructs the AI engine to layout Kubernetes architectures using standard styles (Ingress, Services, Pods, PVs).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b="1" sz="1800">
                <a:solidFill>
                  <a:srgbClr val="3B82F6"/>
                </a:solidFill>
              </a:defRPr>
            </a:pPr>
            <a:r>
              <a:t>✨  Local Repository Auto-Import: </a:t>
            </a:r>
            <a:r>
              <a:rPr b="0">
                <a:solidFill>
                  <a:srgbClr val="F3F4F6"/>
                </a:solidFill>
              </a:rPr>
              <a:t>Allows users to select local project directories. The app scans files, detects tech stacks (e.g. Node, React, Docker, DBs), and drafts a complete system description automatically.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b="1" sz="1800">
                <a:solidFill>
                  <a:srgbClr val="3B82F6"/>
                </a:solidFill>
              </a:defRPr>
            </a:pPr>
            <a:r>
              <a:t>✨  GitHub Sync &amp; CI/CD Docs-as-Code: </a:t>
            </a:r>
            <a:r>
              <a:rPr b="0">
                <a:solidFill>
                  <a:srgbClr val="F3F4F6"/>
                </a:solidFill>
              </a:rPr>
              <a:t>Integrates GitHub REST API to push the diagram XML and canvas-rendered PNG directly to repositories. Generates copyable GitHub Action configurations to render Draw.io files to images on push.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8B5CF6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800">
                <a:solidFill>
                  <a:srgbClr val="8B5CF6"/>
                </a:solidFill>
              </a:defRPr>
            </a:pPr>
            <a:r>
              <a:t>•  Frontend Client: </a:t>
            </a:r>
            <a:r>
              <a:rPr b="0">
                <a:solidFill>
                  <a:srgbClr val="F3F4F6"/>
                </a:solidFill>
              </a:rPr>
              <a:t>Built with responsive HTML5, styled with custom Glassmorphism CSS, and powered by vanilla Javascript. Fully interactive and responsive on all devices.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1800">
                <a:solidFill>
                  <a:srgbClr val="8B5CF6"/>
                </a:solidFill>
              </a:defRPr>
            </a:pPr>
            <a:r>
              <a:t>•  Backend Services: </a:t>
            </a:r>
            <a:r>
              <a:rPr b="0">
                <a:solidFill>
                  <a:srgbClr val="F3F4F6"/>
                </a:solidFill>
              </a:rPr>
              <a:t>Uses a Node.js Express server to serve files and handle WebSockets (Socket.io) room handshakes. Deployed and active on Render.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1800">
                <a:solidFill>
                  <a:srgbClr val="8B5CF6"/>
                </a:solidFill>
              </a:defRPr>
            </a:pPr>
            <a:r>
              <a:t>•  AI Design Engine: </a:t>
            </a:r>
            <a:r>
              <a:rPr b="0">
                <a:solidFill>
                  <a:srgbClr val="F3F4F6"/>
                </a:solidFill>
              </a:rPr>
              <a:t>Leverages the Google Gemini model. Includes prompt engineering filters to enforce wide spacing, layout coordinates, wrapping styles, and node colors.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1800">
                <a:solidFill>
                  <a:srgbClr val="8B5CF6"/>
                </a:solidFill>
              </a:defRPr>
            </a:pPr>
            <a:r>
              <a:t>•  Canvas Editor: </a:t>
            </a:r>
            <a:r>
              <a:rPr b="0">
                <a:solidFill>
                  <a:srgbClr val="F3F4F6"/>
                </a:solidFill>
              </a:rPr>
              <a:t>Diagrams.net (Draw.io) iframe API. Configured in autosave mode to capture, update, and broadcast manual drag/drop changes in real-time.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8B5CF6"/>
                </a:solidFill>
                <a:latin typeface="Arial"/>
              </a:defRPr>
            </a:pPr>
            <a:r>
              <a:t>Conclusion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800">
                <a:solidFill>
                  <a:srgbClr val="3B82F6"/>
                </a:solidFill>
              </a:defRPr>
            </a:pPr>
            <a:r>
              <a:t>🚀  Accelerates Engineering Workflows: </a:t>
            </a:r>
            <a:r>
              <a:rPr b="0">
                <a:solidFill>
                  <a:srgbClr val="F3F4F6"/>
                </a:solidFill>
              </a:rPr>
              <a:t>Reduces diagram drafting times from hours to seconds, allowing teams to focus on system design and software writing.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1800">
                <a:solidFill>
                  <a:srgbClr val="3B82F6"/>
                </a:solidFill>
              </a:defRPr>
            </a:pPr>
            <a:r>
              <a:t>🚀  Keeps Documentation Live: </a:t>
            </a:r>
            <a:r>
              <a:rPr b="0">
                <a:solidFill>
                  <a:srgbClr val="F3F4F6"/>
                </a:solidFill>
              </a:rPr>
              <a:t>With GitHub Sync, architecture charts stay version-controlled, up-to-date, and tied directly into your repositories as code.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1800">
                <a:solidFill>
                  <a:srgbClr val="3B82F6"/>
                </a:solidFill>
              </a:defRPr>
            </a:pPr>
            <a:r>
              <a:t>🚀  Enhances Developer Collaboration: </a:t>
            </a:r>
            <a:r>
              <a:rPr b="0">
                <a:solidFill>
                  <a:srgbClr val="F3F4F6"/>
                </a:solidFill>
              </a:rPr>
              <a:t>Socket.io rooms enable multiple engineers to brainstorm, sync, and edit diagrams together in real-time, whether locally or remotely.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1800">
                <a:solidFill>
                  <a:srgbClr val="3B82F6"/>
                </a:solidFill>
              </a:defRPr>
            </a:pPr>
            <a:r>
              <a:t>🚀  Flexible and Extensible: </a:t>
            </a:r>
            <a:r>
              <a:rPr b="0">
                <a:solidFill>
                  <a:srgbClr val="F3F4F6"/>
                </a:solidFill>
              </a:rPr>
              <a:t>The integration of standard formats (Draw.io XML, PNG) makes it easy to integrate with any existing developer tooling.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8B5CF6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400" b="1">
                <a:solidFill>
                  <a:srgbClr val="3B82F6"/>
                </a:solidFill>
                <a:latin typeface="Arial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